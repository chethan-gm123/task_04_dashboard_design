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767E"/>
    <a:srgbClr val="0F766E"/>
    <a:srgbClr val="0B1F3A"/>
    <a:srgbClr val="374151"/>
    <a:srgbClr val="14B8A6"/>
    <a:srgbClr val="35CFD3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767C97-B034-4D3C-9CA8-1F4795A5D8C1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D9A670-1D9D-417C-B8A4-7E6C2982ED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620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9A670-1D9D-417C-B8A4-7E6C2982ED7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26298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23872-4958-9218-4B2E-E822EB554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6AA26C-5EB4-32D7-765D-41D32B56F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8F415C-25D5-4E82-A80F-D2845A549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CFCA3C-2523-E597-BFDA-531ED7605C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9A670-1D9D-417C-B8A4-7E6C2982ED7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3775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A7C17-0758-9147-D462-C14134F4A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B78016-C216-6852-D909-85867E5524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5EE359-EE99-0A57-4733-D1ABA240F7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C44EA-5763-2282-11FA-F2979B6F5D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9A670-1D9D-417C-B8A4-7E6C2982ED7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380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49AAB-EC6A-03C2-CE59-4B875BB8A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BA4B1-097D-8494-0EDC-5F976504BE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10C407-8008-CD81-4EBB-AC225B451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63FF04-0D11-739A-8FB7-9CE5976D05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9A670-1D9D-417C-B8A4-7E6C2982ED7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711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8895E-4511-8E63-B95B-626230218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A4CED1-7512-15E0-892A-A137208432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C72F3-4EFB-B854-5FE0-E6AB36D41F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D32507-F85D-F668-DB2C-0CDB649970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9A670-1D9D-417C-B8A4-7E6C2982ED7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0281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27088-4757-BEF1-87B1-0E8F89D42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4215C8-0274-28B1-7F00-092BE0F57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88F4B-4D67-6A04-3CBE-5A5EA041D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A6946-12BC-4E2F-A479-F5FF88D992EB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656FB-7633-D030-256B-C592964C4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559EF-E74F-70DE-D8C7-26947945F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6EDE-1ED5-471C-9D7E-ACB1F2BC0B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663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654B-BBBE-AB51-0525-8538E6E0F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D92B5-3C2C-B771-6D22-5B7476AB4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3D030-17A7-8058-6E90-ADC16C43F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A6946-12BC-4E2F-A479-F5FF88D992EB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6C6B8-5AC3-F414-58F2-D7C596A78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EE0A3-5533-7D97-5A01-9F8DD7B40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6EDE-1ED5-471C-9D7E-ACB1F2BC0B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526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259C8-BEF8-B467-9BF7-06DC86232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02C69-B2BC-5406-413D-947E2F386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62B4C-6A13-C55C-02F7-87BA080E3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A6946-12BC-4E2F-A479-F5FF88D992EB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419FB-1EAA-11D7-A168-279B9A1EB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753C55-65E2-E31A-1672-060DC61A2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6EDE-1ED5-471C-9D7E-ACB1F2BC0B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060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93A8D-6F01-E517-FE4A-8D984B296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356A0-3777-BE3C-4CF0-06624A6382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94D6CB-E4C0-1ADA-347C-845B4BC8D3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BDF73-D3B1-EF27-FD0C-1B8A5D210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A6946-12BC-4E2F-A479-F5FF88D992EB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3119F6-77CC-1424-31A1-CE6AFEFB5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A300E4-27E3-C37D-B47E-3F015FBE1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6EDE-1ED5-471C-9D7E-ACB1F2BC0B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087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4D1DC-6E8F-C744-730E-307B425DA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9EF0-C0F1-3510-C382-BC6AD4359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4F7420-7C00-A8B1-6EE9-0AB50A093C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BD0153-A181-A5AD-9F61-98BFB7A70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774B99-3989-96B3-698E-257BA912DF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EBDFD8-8B46-F651-3F81-D46D61EF2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A6946-12BC-4E2F-A479-F5FF88D992EB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1A4350-E5A3-9D6B-0129-978EAC47F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A7C12D-7CC4-67D9-C3A9-06C2331DF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6EDE-1ED5-471C-9D7E-ACB1F2BC0B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02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1B379-135F-94C7-3DCA-41B39EE82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F33A54-58A5-919C-7A40-6B871E624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A6946-12BC-4E2F-A479-F5FF88D992EB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0D929E-64CB-64E9-D4C8-3E8F12D43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7D48D7-3303-279F-56CD-8B904DE3B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6EDE-1ED5-471C-9D7E-ACB1F2BC0B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671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079F36-09AB-6F5A-748D-BDA2CEEF0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A6946-12BC-4E2F-A479-F5FF88D992EB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EA5AFD-364A-E7C0-6E83-B76DC13D2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212F77-7102-9C9E-4476-75927857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6EDE-1ED5-471C-9D7E-ACB1F2BC0B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596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AD9CA-19E2-5545-E329-D7D81D285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79E17-5D5A-3BCE-2546-2FC077F6B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C3E9B8-25F7-4C1C-F726-DCDBF9905E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35F693-77CC-F706-6D09-1484A6874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A6946-12BC-4E2F-A479-F5FF88D992EB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A1DB2-2CF3-3F02-EF3D-9A83AF3EA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F39E2-3991-0272-F1BE-E29E18452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6EDE-1ED5-471C-9D7E-ACB1F2BC0B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5799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205EC-7361-4B04-FD92-918B9DA6B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977141-E3E3-712A-B1C0-88481F640D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D33169-E051-EBD8-5171-2996842FF2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126AB7-E5D6-FB83-DF2D-A9D721ABF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A6946-12BC-4E2F-A479-F5FF88D992EB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1A0F03-4BAF-A60C-1BD4-6FBCC9C49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037FF1-FF48-4BC9-BD8C-126418406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6EDE-1ED5-471C-9D7E-ACB1F2BC0B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736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FBB33-890A-5127-69A2-76021FFF3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5679F5-1A3E-F442-3467-4C16BBC80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9BB3C-4603-DAA1-3326-5204B0894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A6946-12BC-4E2F-A479-F5FF88D992EB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97D18-89C4-8D18-AE69-E75D46FCE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759CA-23F7-7911-1925-EE52A5C73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6EDE-1ED5-471C-9D7E-ACB1F2BC0B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58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F8BFA9-CA71-499F-B6A9-CC2530AD25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420157-7078-6C04-826A-760E16EC06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A3906-BBEE-F2AF-087E-A4B00B6B0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A6946-12BC-4E2F-A479-F5FF88D992EB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224AE-2AFD-C6F3-03E4-7D645FE8B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6E2A2-5762-3DF1-04E1-7FE4CBD3F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6EDE-1ED5-471C-9D7E-ACB1F2BC0B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263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F9ED39-9F52-1068-7DAE-1957B2E14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688105-C747-B1BF-B29F-E1007B31D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79703-5E94-8B4B-07A1-8A9D2A013E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A6946-12BC-4E2F-A479-F5FF88D992EB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D68FE-82E8-AE93-B51A-EE7E7A2C0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EADFA-FBB5-43A7-E77E-3C3FE97B40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D6EDE-1ED5-471C-9D7E-ACB1F2BC0B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854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64EC9A-A98F-51F5-E835-F838C67D43D6}"/>
              </a:ext>
            </a:extLst>
          </p:cNvPr>
          <p:cNvSpPr/>
          <p:nvPr/>
        </p:nvSpPr>
        <p:spPr>
          <a:xfrm>
            <a:off x="0" y="1"/>
            <a:ext cx="12192000" cy="95372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3A5D52-8580-B638-E360-8131D41FD804}"/>
              </a:ext>
            </a:extLst>
          </p:cNvPr>
          <p:cNvSpPr txBox="1"/>
          <p:nvPr/>
        </p:nvSpPr>
        <p:spPr>
          <a:xfrm>
            <a:off x="181896" y="234278"/>
            <a:ext cx="1182820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solidFill>
                  <a:schemeClr val="bg1"/>
                </a:solidFill>
              </a:rPr>
              <a:t>SALES PERFORMANCE DASHBOARD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75D05B-E57C-D1F9-A215-27138F7268D4}"/>
              </a:ext>
            </a:extLst>
          </p:cNvPr>
          <p:cNvSpPr/>
          <p:nvPr/>
        </p:nvSpPr>
        <p:spPr>
          <a:xfrm>
            <a:off x="0" y="953729"/>
            <a:ext cx="12192000" cy="45719"/>
          </a:xfrm>
          <a:prstGeom prst="rect">
            <a:avLst/>
          </a:prstGeom>
          <a:solidFill>
            <a:srgbClr val="35CFD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42593B7-1435-9575-D6BB-003D14A14C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2095" y="1188006"/>
            <a:ext cx="1007808" cy="96782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45F888-8AED-83A2-ECCC-3040BCACD571}"/>
              </a:ext>
            </a:extLst>
          </p:cNvPr>
          <p:cNvSpPr txBox="1"/>
          <p:nvPr/>
        </p:nvSpPr>
        <p:spPr>
          <a:xfrm>
            <a:off x="1229032" y="2155830"/>
            <a:ext cx="9488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B1F3A"/>
                </a:solidFill>
              </a:rPr>
              <a:t>Task 04 – Dashboard Design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EA5D6C-D847-082E-AC0C-ACAC3272BB0C}"/>
              </a:ext>
            </a:extLst>
          </p:cNvPr>
          <p:cNvSpPr txBox="1"/>
          <p:nvPr/>
        </p:nvSpPr>
        <p:spPr>
          <a:xfrm>
            <a:off x="1833715" y="2499509"/>
            <a:ext cx="8524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rgbClr val="374151"/>
                </a:solidFill>
              </a:rPr>
              <a:t>Interactive Business Intelligence Dashboard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2D4B865-9CA5-788E-739C-D6FDAE3DC2B2}"/>
              </a:ext>
            </a:extLst>
          </p:cNvPr>
          <p:cNvCxnSpPr>
            <a:cxnSpLocks/>
          </p:cNvCxnSpPr>
          <p:nvPr/>
        </p:nvCxnSpPr>
        <p:spPr>
          <a:xfrm>
            <a:off x="4404852" y="3185652"/>
            <a:ext cx="3185651" cy="0"/>
          </a:xfrm>
          <a:prstGeom prst="line">
            <a:avLst/>
          </a:prstGeom>
          <a:ln>
            <a:solidFill>
              <a:srgbClr val="35CF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8602E4F-608E-496A-FD60-E3C884CC004E}"/>
              </a:ext>
            </a:extLst>
          </p:cNvPr>
          <p:cNvSpPr txBox="1"/>
          <p:nvPr/>
        </p:nvSpPr>
        <p:spPr>
          <a:xfrm>
            <a:off x="5137353" y="3333794"/>
            <a:ext cx="19172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14B8A6"/>
                </a:solidFill>
              </a:rPr>
              <a:t>Prepared By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7D742A-B82E-BFC1-B201-A494CD73B4B9}"/>
              </a:ext>
            </a:extLst>
          </p:cNvPr>
          <p:cNvSpPr txBox="1"/>
          <p:nvPr/>
        </p:nvSpPr>
        <p:spPr>
          <a:xfrm>
            <a:off x="4699817" y="3620434"/>
            <a:ext cx="2792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Chethan G 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8206C7-B318-567C-13C3-E8AA780FA631}"/>
              </a:ext>
            </a:extLst>
          </p:cNvPr>
          <p:cNvSpPr txBox="1"/>
          <p:nvPr/>
        </p:nvSpPr>
        <p:spPr>
          <a:xfrm>
            <a:off x="5034115" y="4020544"/>
            <a:ext cx="38050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374151"/>
                </a:solidFill>
              </a:rPr>
              <a:t>Data Analyst Internship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F6FA35-F870-75E5-6A89-C952B65BEA8A}"/>
              </a:ext>
            </a:extLst>
          </p:cNvPr>
          <p:cNvSpPr txBox="1"/>
          <p:nvPr/>
        </p:nvSpPr>
        <p:spPr>
          <a:xfrm>
            <a:off x="3603520" y="4459588"/>
            <a:ext cx="49849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374151"/>
                </a:solidFill>
              </a:rPr>
              <a:t>Power BI | Microsoft Excel</a:t>
            </a:r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D622937B-39B8-CC67-1EF4-CC64FCC36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Task 04 | Dashboard Design | Power BI </a:t>
            </a:r>
            <a:endParaRPr lang="en-IN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97313C8F-7688-DD44-C5C2-56EF6215D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6EDE-1ED5-471C-9D7E-ACB1F2BC0B0E}" type="slidenum">
              <a:rPr lang="en-IN" smtClean="0"/>
              <a:t>1</a:t>
            </a:fld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E0FB75-830D-076C-20F8-B7F5A3A39A86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BBF325F-B6AE-E097-8B3E-3260829CFD7A}"/>
              </a:ext>
            </a:extLst>
          </p:cNvPr>
          <p:cNvGrpSpPr/>
          <p:nvPr/>
        </p:nvGrpSpPr>
        <p:grpSpPr>
          <a:xfrm>
            <a:off x="181896" y="6469626"/>
            <a:ext cx="11697930" cy="284901"/>
            <a:chOff x="181896" y="6469626"/>
            <a:chExt cx="11697930" cy="284901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E93AAFD-698C-D5D2-FE2F-BE2F189660B7}"/>
                </a:ext>
              </a:extLst>
            </p:cNvPr>
            <p:cNvSpPr txBox="1"/>
            <p:nvPr/>
          </p:nvSpPr>
          <p:spPr>
            <a:xfrm>
              <a:off x="181896" y="6469626"/>
              <a:ext cx="301850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100" b="1" dirty="0">
                  <a:solidFill>
                    <a:schemeClr val="bg1"/>
                  </a:solidFill>
                </a:rPr>
                <a:t>Task 04 | Dashboard Design | Power BI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5C39247-8DB4-F8DE-5E3E-FED766279B39}"/>
                </a:ext>
              </a:extLst>
            </p:cNvPr>
            <p:cNvSpPr txBox="1"/>
            <p:nvPr/>
          </p:nvSpPr>
          <p:spPr>
            <a:xfrm>
              <a:off x="10500852" y="6492917"/>
              <a:ext cx="137897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100" b="1" dirty="0">
                  <a:solidFill>
                    <a:schemeClr val="bg1"/>
                  </a:solidFill>
                </a:rPr>
                <a:t>01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80457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E82DD-384F-8FE8-5C5A-24F61AA58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45EA3F0-21AD-2143-5F5A-E196DD771AFB}"/>
              </a:ext>
            </a:extLst>
          </p:cNvPr>
          <p:cNvSpPr/>
          <p:nvPr/>
        </p:nvSpPr>
        <p:spPr>
          <a:xfrm>
            <a:off x="0" y="1"/>
            <a:ext cx="12192000" cy="95372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079BD4-1F2A-6C52-8B2F-7B0DEEBCF416}"/>
              </a:ext>
            </a:extLst>
          </p:cNvPr>
          <p:cNvSpPr txBox="1"/>
          <p:nvPr/>
        </p:nvSpPr>
        <p:spPr>
          <a:xfrm>
            <a:off x="181896" y="234278"/>
            <a:ext cx="1182820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solidFill>
                  <a:schemeClr val="bg1"/>
                </a:solidFill>
              </a:rPr>
              <a:t>PROJECT OVERVIEW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7B200-2C2D-D153-7D0D-6CDFDCF2EB43}"/>
              </a:ext>
            </a:extLst>
          </p:cNvPr>
          <p:cNvSpPr/>
          <p:nvPr/>
        </p:nvSpPr>
        <p:spPr>
          <a:xfrm>
            <a:off x="0" y="953729"/>
            <a:ext cx="12192000" cy="45719"/>
          </a:xfrm>
          <a:prstGeom prst="rect">
            <a:avLst/>
          </a:prstGeom>
          <a:solidFill>
            <a:srgbClr val="35CFD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23758371-67C4-088A-2DEC-541862921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Task 04 | Dashboard Design | Power BI </a:t>
            </a:r>
            <a:endParaRPr lang="en-IN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058003C9-950D-414E-FCD3-0CF5641AA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6EDE-1ED5-471C-9D7E-ACB1F2BC0B0E}" type="slidenum">
              <a:rPr lang="en-IN" smtClean="0"/>
              <a:t>2</a:t>
            </a:fld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F5D0A87-5331-767B-CDA0-20BF1CECA500}"/>
              </a:ext>
            </a:extLst>
          </p:cNvPr>
          <p:cNvSpPr/>
          <p:nvPr/>
        </p:nvSpPr>
        <p:spPr>
          <a:xfrm>
            <a:off x="0" y="6372897"/>
            <a:ext cx="12192000" cy="50165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DE40F51-D610-91BE-CF45-8558264933F7}"/>
              </a:ext>
            </a:extLst>
          </p:cNvPr>
          <p:cNvGrpSpPr/>
          <p:nvPr/>
        </p:nvGrpSpPr>
        <p:grpSpPr>
          <a:xfrm>
            <a:off x="181896" y="6469626"/>
            <a:ext cx="11697930" cy="284901"/>
            <a:chOff x="181896" y="6469626"/>
            <a:chExt cx="11697930" cy="284901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AA0D93C-9868-2648-8FD9-BB0F66A096C2}"/>
                </a:ext>
              </a:extLst>
            </p:cNvPr>
            <p:cNvSpPr txBox="1"/>
            <p:nvPr/>
          </p:nvSpPr>
          <p:spPr>
            <a:xfrm>
              <a:off x="181896" y="6469626"/>
              <a:ext cx="301850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100" b="1" dirty="0">
                  <a:solidFill>
                    <a:schemeClr val="bg1"/>
                  </a:solidFill>
                </a:rPr>
                <a:t>Task 04 | Dashboard Design | Power BI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7548916-F260-FEC1-EFD8-1187AC6C09D0}"/>
                </a:ext>
              </a:extLst>
            </p:cNvPr>
            <p:cNvSpPr txBox="1"/>
            <p:nvPr/>
          </p:nvSpPr>
          <p:spPr>
            <a:xfrm>
              <a:off x="10500852" y="6492917"/>
              <a:ext cx="137897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100" b="1" dirty="0">
                  <a:solidFill>
                    <a:schemeClr val="bg1"/>
                  </a:solidFill>
                </a:rPr>
                <a:t>02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B1281F0-D2B3-3F72-6264-3884E207D3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613" y="1439572"/>
            <a:ext cx="583933" cy="60486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68B62A3-799B-D86F-0A54-F6DE407A0B9A}"/>
              </a:ext>
            </a:extLst>
          </p:cNvPr>
          <p:cNvSpPr txBox="1"/>
          <p:nvPr/>
        </p:nvSpPr>
        <p:spPr>
          <a:xfrm>
            <a:off x="1170039" y="1573161"/>
            <a:ext cx="3126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F766E"/>
                </a:solidFill>
              </a:rPr>
              <a:t>OBJECTIVE</a:t>
            </a:r>
            <a:r>
              <a:rPr lang="en-IN" dirty="0"/>
              <a:t>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AEB333-C472-FD3D-3468-D14D71E1C025}"/>
              </a:ext>
            </a:extLst>
          </p:cNvPr>
          <p:cNvSpPr txBox="1"/>
          <p:nvPr/>
        </p:nvSpPr>
        <p:spPr>
          <a:xfrm>
            <a:off x="678426" y="2448232"/>
            <a:ext cx="5073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Develop an interactive dashboard to </a:t>
            </a:r>
            <a:r>
              <a:rPr lang="en-IN" dirty="0" err="1"/>
              <a:t>analyze</a:t>
            </a:r>
            <a:r>
              <a:rPr lang="en-IN" dirty="0"/>
              <a:t> sales performance.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E1783AB6-37DD-43DB-7706-5A879BBB4A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4090" y="1439572"/>
            <a:ext cx="519405" cy="55914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62F7612D-5489-04D3-83C5-84DCFD1B49BD}"/>
              </a:ext>
            </a:extLst>
          </p:cNvPr>
          <p:cNvSpPr txBox="1"/>
          <p:nvPr/>
        </p:nvSpPr>
        <p:spPr>
          <a:xfrm>
            <a:off x="7541341" y="1493455"/>
            <a:ext cx="2772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F766E"/>
                </a:solidFill>
              </a:rPr>
              <a:t>TOOLS USED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04A72BF-D765-E571-5005-6CC790622F3A}"/>
              </a:ext>
            </a:extLst>
          </p:cNvPr>
          <p:cNvSpPr txBox="1"/>
          <p:nvPr/>
        </p:nvSpPr>
        <p:spPr>
          <a:xfrm>
            <a:off x="7455308" y="1998717"/>
            <a:ext cx="2772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• Power BI   </a:t>
            </a:r>
          </a:p>
          <a:p>
            <a:r>
              <a:rPr lang="en-IN" dirty="0"/>
              <a:t>• Microsoft Excel                                        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1E7263A6-AD8C-96A5-8E83-530584FB71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4090" y="2923507"/>
            <a:ext cx="519405" cy="460183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6D24B5B5-1CDE-A0F1-B1D0-B6DCF7CC6D5B}"/>
              </a:ext>
            </a:extLst>
          </p:cNvPr>
          <p:cNvSpPr txBox="1"/>
          <p:nvPr/>
        </p:nvSpPr>
        <p:spPr>
          <a:xfrm>
            <a:off x="7541341" y="2930384"/>
            <a:ext cx="2337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F767E"/>
                </a:solidFill>
              </a:rPr>
              <a:t>DATASET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F82183-00FE-E7FE-6F45-932FFCADAC78}"/>
              </a:ext>
            </a:extLst>
          </p:cNvPr>
          <p:cNvSpPr txBox="1"/>
          <p:nvPr/>
        </p:nvSpPr>
        <p:spPr>
          <a:xfrm>
            <a:off x="7487263" y="3312951"/>
            <a:ext cx="2494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• Superstore Dataset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6FEF3A52-4625-F8B9-245D-F6258902CE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848" y="4533585"/>
            <a:ext cx="383462" cy="583152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0E1DC26E-3253-4EEE-D35A-8E354C46DC69}"/>
              </a:ext>
            </a:extLst>
          </p:cNvPr>
          <p:cNvSpPr txBox="1"/>
          <p:nvPr/>
        </p:nvSpPr>
        <p:spPr>
          <a:xfrm>
            <a:off x="1170039" y="4621161"/>
            <a:ext cx="3913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F767E"/>
                </a:solidFill>
              </a:rPr>
              <a:t>KPIs ANALYZED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0A00F5C-7985-0260-5CE9-B78AA755BC26}"/>
              </a:ext>
            </a:extLst>
          </p:cNvPr>
          <p:cNvSpPr txBox="1"/>
          <p:nvPr/>
        </p:nvSpPr>
        <p:spPr>
          <a:xfrm>
            <a:off x="1078546" y="5182823"/>
            <a:ext cx="8903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Total Sales • Total Profit • Total Orders • Total Customers • Profit Margin</a:t>
            </a:r>
          </a:p>
        </p:txBody>
      </p:sp>
    </p:spTree>
    <p:extLst>
      <p:ext uri="{BB962C8B-B14F-4D97-AF65-F5344CB8AC3E}">
        <p14:creationId xmlns:p14="http://schemas.microsoft.com/office/powerpoint/2010/main" val="40345498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900CA-8495-F67C-0DF5-DD65D91C5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A4895C-ECDE-FD93-240C-979D6BCB1D32}"/>
              </a:ext>
            </a:extLst>
          </p:cNvPr>
          <p:cNvSpPr/>
          <p:nvPr/>
        </p:nvSpPr>
        <p:spPr>
          <a:xfrm>
            <a:off x="0" y="3"/>
            <a:ext cx="12192000" cy="506004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DBE74E-8089-5F24-D82A-2E50A9F7DE1D}"/>
              </a:ext>
            </a:extLst>
          </p:cNvPr>
          <p:cNvSpPr txBox="1"/>
          <p:nvPr/>
        </p:nvSpPr>
        <p:spPr>
          <a:xfrm>
            <a:off x="181896" y="-33050"/>
            <a:ext cx="118282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INTERACTIVE DASHBOARD</a:t>
            </a:r>
            <a:endParaRPr lang="en-IN" sz="3000" b="1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D57714-B836-74A6-B8AB-E8DB597ED01E}"/>
              </a:ext>
            </a:extLst>
          </p:cNvPr>
          <p:cNvSpPr/>
          <p:nvPr/>
        </p:nvSpPr>
        <p:spPr>
          <a:xfrm>
            <a:off x="0" y="506006"/>
            <a:ext cx="12192000" cy="45719"/>
          </a:xfrm>
          <a:prstGeom prst="rect">
            <a:avLst/>
          </a:prstGeom>
          <a:solidFill>
            <a:srgbClr val="35CFD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DF063462-426D-B63C-982D-E08A75E4F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Task 04 | Dashboard Design | Power BI </a:t>
            </a:r>
            <a:endParaRPr lang="en-IN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1E8C44B4-45A1-A973-AB3E-B1D573503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6EDE-1ED5-471C-9D7E-ACB1F2BC0B0E}" type="slidenum">
              <a:rPr lang="en-IN" smtClean="0"/>
              <a:t>3</a:t>
            </a:fld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B6E2F06-0BC6-9068-2870-15ECD88187D7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BE2AF1A-63F4-5A89-E4F6-47D71A8A9D33}"/>
              </a:ext>
            </a:extLst>
          </p:cNvPr>
          <p:cNvGrpSpPr/>
          <p:nvPr/>
        </p:nvGrpSpPr>
        <p:grpSpPr>
          <a:xfrm>
            <a:off x="181896" y="6469626"/>
            <a:ext cx="11697930" cy="454178"/>
            <a:chOff x="181896" y="6469626"/>
            <a:chExt cx="11697930" cy="454178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FCC50BE-2003-2581-9E3E-FCBACE88390A}"/>
                </a:ext>
              </a:extLst>
            </p:cNvPr>
            <p:cNvSpPr txBox="1"/>
            <p:nvPr/>
          </p:nvSpPr>
          <p:spPr>
            <a:xfrm>
              <a:off x="181896" y="6469626"/>
              <a:ext cx="301850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100" b="1" dirty="0">
                  <a:solidFill>
                    <a:schemeClr val="bg1"/>
                  </a:solidFill>
                </a:rPr>
                <a:t>Task 04 | Dashboard Design | Power BI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F9C0B15-A29D-B832-A11D-576EB5F5B8F5}"/>
                </a:ext>
              </a:extLst>
            </p:cNvPr>
            <p:cNvSpPr txBox="1"/>
            <p:nvPr/>
          </p:nvSpPr>
          <p:spPr>
            <a:xfrm>
              <a:off x="10500852" y="6492917"/>
              <a:ext cx="137897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100" b="1" dirty="0">
                  <a:solidFill>
                    <a:schemeClr val="bg1"/>
                  </a:solidFill>
                </a:rPr>
                <a:t>03</a:t>
              </a:r>
            </a:p>
            <a:p>
              <a:pPr algn="ctr"/>
              <a:endParaRPr lang="en-IN" sz="11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D0836AEB-2F16-76D2-8514-1DAFE0C437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1725"/>
            <a:ext cx="12191999" cy="581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813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ECC52-0B29-CEF5-C1F8-14C9A0A42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88B1B0-1630-EDB0-3536-9AC932743C04}"/>
              </a:ext>
            </a:extLst>
          </p:cNvPr>
          <p:cNvSpPr/>
          <p:nvPr/>
        </p:nvSpPr>
        <p:spPr>
          <a:xfrm>
            <a:off x="0" y="1"/>
            <a:ext cx="12192000" cy="95372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DECC1D-9EA0-3BB4-EAB5-188AAF9410BE}"/>
              </a:ext>
            </a:extLst>
          </p:cNvPr>
          <p:cNvSpPr txBox="1"/>
          <p:nvPr/>
        </p:nvSpPr>
        <p:spPr>
          <a:xfrm>
            <a:off x="181896" y="234278"/>
            <a:ext cx="1182820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chemeClr val="bg1"/>
                </a:solidFill>
              </a:rPr>
              <a:t>KEY BUSINESS INSIGHTS</a:t>
            </a:r>
            <a:endParaRPr lang="en-IN" sz="3000" b="1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EFEBC7-797D-B462-54AD-AF28DBC6CCE7}"/>
              </a:ext>
            </a:extLst>
          </p:cNvPr>
          <p:cNvSpPr/>
          <p:nvPr/>
        </p:nvSpPr>
        <p:spPr>
          <a:xfrm>
            <a:off x="0" y="953729"/>
            <a:ext cx="12192000" cy="45719"/>
          </a:xfrm>
          <a:prstGeom prst="rect">
            <a:avLst/>
          </a:prstGeom>
          <a:solidFill>
            <a:srgbClr val="35CFD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6222898F-34BA-F8C6-3FFC-AABA40EBB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Task 04 | Dashboard Design | Power BI </a:t>
            </a:r>
            <a:endParaRPr lang="en-IN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7EC84A75-BC16-D894-0689-5A4A662FD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6EDE-1ED5-471C-9D7E-ACB1F2BC0B0E}" type="slidenum">
              <a:rPr lang="en-IN" smtClean="0"/>
              <a:t>4</a:t>
            </a:fld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B203618-C584-3163-3242-CC406BB9F5EA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FB6C850-0633-5E11-9890-C467FD207068}"/>
              </a:ext>
            </a:extLst>
          </p:cNvPr>
          <p:cNvGrpSpPr/>
          <p:nvPr/>
        </p:nvGrpSpPr>
        <p:grpSpPr>
          <a:xfrm>
            <a:off x="181896" y="6469626"/>
            <a:ext cx="11697930" cy="284901"/>
            <a:chOff x="181896" y="6469626"/>
            <a:chExt cx="11697930" cy="284901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21ACE22-28AD-F53D-F8CC-69DBEC76C14C}"/>
                </a:ext>
              </a:extLst>
            </p:cNvPr>
            <p:cNvSpPr txBox="1"/>
            <p:nvPr/>
          </p:nvSpPr>
          <p:spPr>
            <a:xfrm>
              <a:off x="181896" y="6469626"/>
              <a:ext cx="301850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100" b="1" dirty="0">
                  <a:solidFill>
                    <a:schemeClr val="bg1"/>
                  </a:solidFill>
                </a:rPr>
                <a:t>Task 04 | Dashboard Design | Power BI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19CACE6-337B-E610-4D0B-6621EE366302}"/>
                </a:ext>
              </a:extLst>
            </p:cNvPr>
            <p:cNvSpPr txBox="1"/>
            <p:nvPr/>
          </p:nvSpPr>
          <p:spPr>
            <a:xfrm>
              <a:off x="10500852" y="6492917"/>
              <a:ext cx="137897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100" b="1" dirty="0">
                  <a:solidFill>
                    <a:schemeClr val="bg1"/>
                  </a:solidFill>
                </a:rPr>
                <a:t>04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393A386-59F5-E212-4332-86644057646B}"/>
              </a:ext>
            </a:extLst>
          </p:cNvPr>
          <p:cNvSpPr txBox="1"/>
          <p:nvPr/>
        </p:nvSpPr>
        <p:spPr>
          <a:xfrm>
            <a:off x="953728" y="1356852"/>
            <a:ext cx="10697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• Technology category generated highest sales.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351504-B8F5-C169-B670-7671657A8EA4}"/>
              </a:ext>
            </a:extLst>
          </p:cNvPr>
          <p:cNvSpPr txBox="1"/>
          <p:nvPr/>
        </p:nvSpPr>
        <p:spPr>
          <a:xfrm>
            <a:off x="953728" y="1773871"/>
            <a:ext cx="7728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• West region delivered strongest performance.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0EB045-EFAC-06CC-3484-20C107528A63}"/>
              </a:ext>
            </a:extLst>
          </p:cNvPr>
          <p:cNvSpPr txBox="1"/>
          <p:nvPr/>
        </p:nvSpPr>
        <p:spPr>
          <a:xfrm>
            <a:off x="953728" y="2256479"/>
            <a:ext cx="6029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• Consumer segment contributed largest sales.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C8DC97-9792-7683-B3B5-7E99A2F5CE98}"/>
              </a:ext>
            </a:extLst>
          </p:cNvPr>
          <p:cNvSpPr txBox="1"/>
          <p:nvPr/>
        </p:nvSpPr>
        <p:spPr>
          <a:xfrm>
            <a:off x="953728" y="2739087"/>
            <a:ext cx="5368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• Sales increased during year-end months.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1C4B48-1074-E9D6-CE8C-847CF88BB941}"/>
              </a:ext>
            </a:extLst>
          </p:cNvPr>
          <p:cNvSpPr txBox="1"/>
          <p:nvPr/>
        </p:nvSpPr>
        <p:spPr>
          <a:xfrm>
            <a:off x="953729" y="3264310"/>
            <a:ext cx="4768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• Higher discounts reduced profitability.</a:t>
            </a:r>
          </a:p>
        </p:txBody>
      </p:sp>
    </p:spTree>
    <p:extLst>
      <p:ext uri="{BB962C8B-B14F-4D97-AF65-F5344CB8AC3E}">
        <p14:creationId xmlns:p14="http://schemas.microsoft.com/office/powerpoint/2010/main" val="38582605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B99AD-073E-9795-46A6-68043CC18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385EF4-3B26-19CA-FC25-A7BE5FBA22CE}"/>
              </a:ext>
            </a:extLst>
          </p:cNvPr>
          <p:cNvSpPr/>
          <p:nvPr/>
        </p:nvSpPr>
        <p:spPr>
          <a:xfrm>
            <a:off x="0" y="1"/>
            <a:ext cx="12192000" cy="95372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F4467F-EB3B-BFB0-ED61-3E71570F18FB}"/>
              </a:ext>
            </a:extLst>
          </p:cNvPr>
          <p:cNvSpPr txBox="1"/>
          <p:nvPr/>
        </p:nvSpPr>
        <p:spPr>
          <a:xfrm>
            <a:off x="181896" y="234278"/>
            <a:ext cx="1182820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chemeClr val="bg1"/>
                </a:solidFill>
              </a:rPr>
              <a:t>CONCLUSION &amp; RECOMMENDATIONS </a:t>
            </a:r>
            <a:endParaRPr lang="en-IN" sz="3000" b="1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778327-DB17-5401-8AC7-8DE9860F4464}"/>
              </a:ext>
            </a:extLst>
          </p:cNvPr>
          <p:cNvSpPr/>
          <p:nvPr/>
        </p:nvSpPr>
        <p:spPr>
          <a:xfrm>
            <a:off x="0" y="953729"/>
            <a:ext cx="12192000" cy="45719"/>
          </a:xfrm>
          <a:prstGeom prst="rect">
            <a:avLst/>
          </a:prstGeom>
          <a:solidFill>
            <a:srgbClr val="35CFD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09AEC5C-978A-2E90-B831-2A8FFD6E8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Task 04 | Dashboard Design | Power BI </a:t>
            </a:r>
            <a:endParaRPr lang="en-IN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B17AF1D4-BAB9-7233-7ECD-08E02EF48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6EDE-1ED5-471C-9D7E-ACB1F2BC0B0E}" type="slidenum">
              <a:rPr lang="en-IN" smtClean="0"/>
              <a:t>5</a:t>
            </a:fld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D1640EF-EEBA-BD31-60E8-4AE47876C37D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C752852-D572-B894-ECFD-57709C2C681B}"/>
              </a:ext>
            </a:extLst>
          </p:cNvPr>
          <p:cNvGrpSpPr/>
          <p:nvPr/>
        </p:nvGrpSpPr>
        <p:grpSpPr>
          <a:xfrm>
            <a:off x="181896" y="6469626"/>
            <a:ext cx="11697930" cy="284901"/>
            <a:chOff x="181896" y="6469626"/>
            <a:chExt cx="11697930" cy="284901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700927D-46B8-E6F3-84F4-DD486A6E1C94}"/>
                </a:ext>
              </a:extLst>
            </p:cNvPr>
            <p:cNvSpPr txBox="1"/>
            <p:nvPr/>
          </p:nvSpPr>
          <p:spPr>
            <a:xfrm>
              <a:off x="181896" y="6469626"/>
              <a:ext cx="301850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100" b="1" dirty="0">
                  <a:solidFill>
                    <a:schemeClr val="bg1"/>
                  </a:solidFill>
                </a:rPr>
                <a:t>Task 04 | Dashboard Design | Power BI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3404388-13EF-F82E-3CE4-C3E9361F7E3E}"/>
                </a:ext>
              </a:extLst>
            </p:cNvPr>
            <p:cNvSpPr txBox="1"/>
            <p:nvPr/>
          </p:nvSpPr>
          <p:spPr>
            <a:xfrm>
              <a:off x="10500852" y="6492917"/>
              <a:ext cx="137897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100" b="1" dirty="0">
                  <a:solidFill>
                    <a:schemeClr val="bg1"/>
                  </a:solidFill>
                </a:rPr>
                <a:t>05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3B15DBE6-74BA-B98B-1602-E6CA9A5A75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418" y="1762303"/>
            <a:ext cx="563157" cy="5494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0A5DF3-A010-C575-92CE-C9212A262B59}"/>
              </a:ext>
            </a:extLst>
          </p:cNvPr>
          <p:cNvSpPr txBox="1"/>
          <p:nvPr/>
        </p:nvSpPr>
        <p:spPr>
          <a:xfrm>
            <a:off x="1042219" y="1848464"/>
            <a:ext cx="3126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F767E"/>
                </a:solidFill>
              </a:rPr>
              <a:t>CONCLUSION</a:t>
            </a:r>
            <a:r>
              <a:rPr lang="en-IN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814DA7-6537-F310-B46D-2C245195E92C}"/>
              </a:ext>
            </a:extLst>
          </p:cNvPr>
          <p:cNvSpPr txBox="1"/>
          <p:nvPr/>
        </p:nvSpPr>
        <p:spPr>
          <a:xfrm>
            <a:off x="845575" y="2566219"/>
            <a:ext cx="34707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Dashboard provides interactive business performance insights. 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2045B12-CC26-EBFA-BB94-BB691503B5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311" y="1762303"/>
            <a:ext cx="481780" cy="54945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3A19D4E-132B-5284-4009-F2657C9B4DBF}"/>
              </a:ext>
            </a:extLst>
          </p:cNvPr>
          <p:cNvSpPr txBox="1"/>
          <p:nvPr/>
        </p:nvSpPr>
        <p:spPr>
          <a:xfrm>
            <a:off x="7059561" y="1848464"/>
            <a:ext cx="3795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F767E"/>
                </a:solidFill>
              </a:rPr>
              <a:t>RECOMMENDATIONS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F3A7B2-B6FA-82F8-A78D-6F6772688479}"/>
              </a:ext>
            </a:extLst>
          </p:cNvPr>
          <p:cNvSpPr txBox="1"/>
          <p:nvPr/>
        </p:nvSpPr>
        <p:spPr>
          <a:xfrm>
            <a:off x="6553201" y="2566219"/>
            <a:ext cx="49308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• Improve sales in low-performing regions.                       • Optimize discount strategies.                                  • Monitor KPIs regularly                                                 • Focus on high-performing categories.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24D3536-2B1A-F20A-CD9E-47955386770C}"/>
              </a:ext>
            </a:extLst>
          </p:cNvPr>
          <p:cNvSpPr txBox="1"/>
          <p:nvPr/>
        </p:nvSpPr>
        <p:spPr>
          <a:xfrm>
            <a:off x="4458930" y="5073274"/>
            <a:ext cx="4188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F767E"/>
                </a:solidFill>
              </a:rPr>
              <a:t>THANK YOU </a:t>
            </a:r>
          </a:p>
          <a:p>
            <a:pPr algn="ctr"/>
            <a:r>
              <a:rPr lang="en-IN" dirty="0"/>
              <a:t>For Your Attention</a:t>
            </a:r>
            <a:r>
              <a:rPr lang="en-IN" b="1" dirty="0">
                <a:solidFill>
                  <a:srgbClr val="0F767E"/>
                </a:solidFill>
              </a:rPr>
              <a:t> </a:t>
            </a:r>
            <a:r>
              <a:rPr lang="en-IN" sz="2400" b="1" dirty="0">
                <a:solidFill>
                  <a:srgbClr val="0F767E"/>
                </a:solidFill>
              </a:rPr>
              <a:t>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9417134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238</Words>
  <Application>Microsoft Office PowerPoint</Application>
  <PresentationFormat>Widescreen</PresentationFormat>
  <Paragraphs>56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Chethan G M</dc:creator>
  <cp:lastModifiedBy>Chethan G M</cp:lastModifiedBy>
  <cp:revision>2</cp:revision>
  <dcterms:created xsi:type="dcterms:W3CDTF">2026-07-29T15:56:43Z</dcterms:created>
  <dcterms:modified xsi:type="dcterms:W3CDTF">2026-07-29T17:24:25Z</dcterms:modified>
</cp:coreProperties>
</file>